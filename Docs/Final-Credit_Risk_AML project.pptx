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3"/>
  </p:notesMasterIdLst>
  <p:sldIdLst>
    <p:sldId id="283" r:id="rId2"/>
    <p:sldId id="257" r:id="rId3"/>
    <p:sldId id="261" r:id="rId4"/>
    <p:sldId id="258" r:id="rId5"/>
    <p:sldId id="259" r:id="rId6"/>
    <p:sldId id="260" r:id="rId7"/>
    <p:sldId id="282" r:id="rId8"/>
    <p:sldId id="263" r:id="rId9"/>
    <p:sldId id="281" r:id="rId10"/>
    <p:sldId id="269" r:id="rId11"/>
    <p:sldId id="264" r:id="rId12"/>
    <p:sldId id="265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63AF1-48B4-F0D2-0DD0-5859080C26AF}" v="245" dt="2025-04-04T06:52:36.502"/>
    <p1510:client id="{7ED96416-A8FD-3590-3F5E-284D51E8A0FB}" v="178" dt="2025-04-03T21:49:40.604"/>
    <p1510:client id="{8E78ACAD-1AB7-C703-9A92-A12DA6836E57}" v="292" dt="2025-04-04T23:36:20.316"/>
    <p1510:client id="{9BCD1AC6-3E6B-49EC-F343-38B58FB630C2}" v="1074" dt="2025-04-05T03:27:40.245"/>
    <p1510:client id="{DC9880A2-9F2B-CE86-6136-9FC4EF66EF5C}" v="153" dt="2025-04-05T04:35:30.017"/>
    <p1510:client id="{E1F0EEFD-D974-041B-26A2-AC37817E296D}" v="1151" dt="2025-04-03T22:45:44.007"/>
    <p1510:client id="{EDC59DA0-FB29-FD31-A428-BB5FFFD85E0C}" v="162" dt="2025-04-04T06:14:02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8AAB8-C19A-4234-8B66-088F95C7C971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8CBD5-3C15-4467-8549-E647C2CE3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50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3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1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2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59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1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0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2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3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1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6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9EFB40-4CDC-2D7E-6CF6-CFE8A31A7C45}"/>
              </a:ext>
            </a:extLst>
          </p:cNvPr>
          <p:cNvSpPr txBox="1"/>
          <p:nvPr/>
        </p:nvSpPr>
        <p:spPr>
          <a:xfrm>
            <a:off x="3936323" y="4110086"/>
            <a:ext cx="7394973" cy="2926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6" algn="ctr"/>
            <a:r>
              <a:rPr lang="en-US" sz="3200" dirty="0">
                <a:latin typeface="Bahnschrift Light Condensed"/>
              </a:rPr>
              <a:t>GROUP – 04</a:t>
            </a:r>
          </a:p>
          <a:p>
            <a:pPr lvl="6" algn="ctr"/>
            <a:r>
              <a:rPr lang="en-US" sz="3200" dirty="0">
                <a:latin typeface="Bahnschrift Light Condensed"/>
              </a:rPr>
              <a:t>SUBHAM MANGI– SCM240000</a:t>
            </a:r>
            <a:endParaRPr lang="en-US" sz="3200" dirty="0"/>
          </a:p>
          <a:p>
            <a:pPr lvl="6" algn="ctr"/>
            <a:r>
              <a:rPr lang="en-US" sz="3200" dirty="0">
                <a:latin typeface="Bahnschrift Light Condensed"/>
              </a:rPr>
              <a:t>SHREYAS HARISH – SXH240028</a:t>
            </a:r>
            <a:endParaRPr lang="en-US" sz="3200" dirty="0"/>
          </a:p>
          <a:p>
            <a:pPr lvl="6" algn="ctr"/>
            <a:r>
              <a:rPr lang="en-US" sz="3200" dirty="0">
                <a:latin typeface="Bahnschrift Light Condensed"/>
              </a:rPr>
              <a:t>GRAYSON SHERIDAN – GBS240000</a:t>
            </a:r>
          </a:p>
          <a:p>
            <a:pPr>
              <a:lnSpc>
                <a:spcPts val="2875"/>
              </a:lnSpc>
            </a:pPr>
            <a:endParaRPr lang="en-US" sz="3200" dirty="0"/>
          </a:p>
          <a:p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6EB27-05CF-F944-1098-EFC469F91584}"/>
              </a:ext>
            </a:extLst>
          </p:cNvPr>
          <p:cNvSpPr txBox="1"/>
          <p:nvPr/>
        </p:nvSpPr>
        <p:spPr>
          <a:xfrm>
            <a:off x="2566027" y="1414021"/>
            <a:ext cx="7059946" cy="7175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583"/>
              </a:lnSpc>
            </a:pPr>
            <a:r>
              <a:rPr lang="en-US" sz="5400" b="1" dirty="0">
                <a:ea typeface="Spline Sans Bold"/>
              </a:rPr>
              <a:t>CREDIT RISK MODELING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9E7F7-8A9E-B592-B7BA-DCE8532A203A}"/>
              </a:ext>
            </a:extLst>
          </p:cNvPr>
          <p:cNvSpPr txBox="1"/>
          <p:nvPr/>
        </p:nvSpPr>
        <p:spPr>
          <a:xfrm>
            <a:off x="4277264" y="2332415"/>
            <a:ext cx="3637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Professor Amir Zemoodeh</a:t>
            </a:r>
            <a:endParaRPr lang="en-IN" sz="2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ahoma" panose="020B0604030504040204" pitchFamily="34" charset="0"/>
            </a:endParaRP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3233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40C6-195F-5271-6B5C-E2A908D5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/>
                <a:cs typeface="Times New Roman"/>
              </a:rPr>
              <a:t>EXECUTIVE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C7238-1788-DA44-EB51-50F4863E4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670" y="2795881"/>
            <a:ext cx="6297130" cy="350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1300" dirty="0"/>
          </a:p>
          <a:p>
            <a:endParaRPr lang="en-GB" sz="1300" dirty="0"/>
          </a:p>
          <a:p>
            <a:endParaRPr lang="en-GB" sz="1300" dirty="0"/>
          </a:p>
          <a:p>
            <a:r>
              <a:rPr lang="en-GB" sz="1300" dirty="0">
                <a:latin typeface="Times New Roman"/>
                <a:cs typeface="Times New Roman"/>
              </a:rPr>
              <a:t>Aggressive Strategy : focusing on achieving the highest returns by engaging with higher-risk clients who may have increased chances of defaulting.</a:t>
            </a:r>
          </a:p>
          <a:p>
            <a:endParaRPr lang="en-GB" sz="1300" dirty="0">
              <a:latin typeface="Times New Roman"/>
              <a:cs typeface="Times New Roman"/>
            </a:endParaRPr>
          </a:p>
          <a:p>
            <a:r>
              <a:rPr lang="en-GB" sz="1300" dirty="0">
                <a:latin typeface="Times New Roman"/>
                <a:cs typeface="Times New Roman"/>
              </a:rPr>
              <a:t>Conservative Strategy : A more conservative strategy that prioritizes safer clients in order to achieve consistent returns while reducing the risk of defaults.</a:t>
            </a: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4A8A63B6-9E18-9654-74E8-4BE28D417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29" y="1019437"/>
            <a:ext cx="9452583" cy="139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7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69C2-D905-3075-3BDD-EF094CAA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</a:t>
            </a:r>
          </a:p>
        </p:txBody>
      </p:sp>
      <p:pic>
        <p:nvPicPr>
          <p:cNvPr id="4" name="Content Placeholder 3" descr="A black and white table with numbers and a black background&#10;&#10;AI-generated content may be incorrect.">
            <a:extLst>
              <a:ext uri="{FF2B5EF4-FFF2-40B4-BE49-F238E27FC236}">
                <a16:creationId xmlns:a16="http://schemas.microsoft.com/office/drawing/2014/main" id="{3C8A7DB4-272C-2D5B-F5BD-C2A7ED997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7244" y="841248"/>
            <a:ext cx="6829887" cy="5276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E8754B-6240-9CDE-F670-42B84273C506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r>
              <a:rPr lang="en-US" b="1" dirty="0"/>
              <a:t>April 2018 Originations</a:t>
            </a:r>
            <a:endParaRPr lang="en-US" sz="1700" dirty="0"/>
          </a:p>
          <a:p>
            <a:r>
              <a:rPr lang="en-US" sz="1700" dirty="0">
                <a:ea typeface="+mn-lt"/>
                <a:cs typeface="+mn-lt"/>
              </a:rPr>
              <a:t>Selected for statistical representation of typical lending patterns.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Default Rate Analysis</a:t>
            </a:r>
            <a:endParaRPr lang="en-US" dirty="0"/>
          </a:p>
          <a:p>
            <a:r>
              <a:rPr lang="en-US" sz="1700" dirty="0">
                <a:ea typeface="+mn-lt"/>
                <a:cs typeface="+mn-lt"/>
              </a:rPr>
              <a:t>Tracked across multiple time periods to identify cyclical trends.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Comprehensive Coverage</a:t>
            </a:r>
            <a:endParaRPr lang="en-US" dirty="0"/>
          </a:p>
          <a:p>
            <a:r>
              <a:rPr lang="en-US" sz="1700" dirty="0">
                <a:ea typeface="+mn-lt"/>
                <a:cs typeface="+mn-lt"/>
              </a:rPr>
              <a:t>Provides optimal balance of historical data and current relevance.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18062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A45C-88B1-6DBB-4CDA-0B14E461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65229" cy="11731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ptos"/>
                <a:cs typeface="Times New Roman"/>
              </a:rPr>
              <a:t> Features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3B3CBCD-3EAB-5DAB-90F4-C15E480A8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621087"/>
              </p:ext>
            </p:extLst>
          </p:nvPr>
        </p:nvGraphicFramePr>
        <p:xfrm>
          <a:off x="838200" y="1825625"/>
          <a:ext cx="4582884" cy="44422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7628">
                  <a:extLst>
                    <a:ext uri="{9D8B030D-6E8A-4147-A177-3AD203B41FA5}">
                      <a16:colId xmlns:a16="http://schemas.microsoft.com/office/drawing/2014/main" val="1621914214"/>
                    </a:ext>
                  </a:extLst>
                </a:gridCol>
                <a:gridCol w="1527628">
                  <a:extLst>
                    <a:ext uri="{9D8B030D-6E8A-4147-A177-3AD203B41FA5}">
                      <a16:colId xmlns:a16="http://schemas.microsoft.com/office/drawing/2014/main" val="3883823560"/>
                    </a:ext>
                  </a:extLst>
                </a:gridCol>
                <a:gridCol w="1527628">
                  <a:extLst>
                    <a:ext uri="{9D8B030D-6E8A-4147-A177-3AD203B41FA5}">
                      <a16:colId xmlns:a16="http://schemas.microsoft.com/office/drawing/2014/main" val="3169029009"/>
                    </a:ext>
                  </a:extLst>
                </a:gridCol>
              </a:tblGrid>
              <a:tr h="740383">
                <a:tc>
                  <a:txBody>
                    <a:bodyPr/>
                    <a:lstStyle/>
                    <a:p>
                      <a:r>
                        <a:rPr lang="en-US" dirty="0"/>
                        <a:t>Variable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471811"/>
                  </a:ext>
                </a:extLst>
              </a:tr>
              <a:tr h="740383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Delinquency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207377"/>
                  </a:ext>
                </a:extLst>
              </a:tr>
              <a:tr h="740383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073025"/>
                  </a:ext>
                </a:extLst>
              </a:tr>
              <a:tr h="740383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644689"/>
                  </a:ext>
                </a:extLst>
              </a:tr>
              <a:tr h="740383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Spend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956586"/>
                  </a:ext>
                </a:extLst>
              </a:tr>
              <a:tr h="740383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Payment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790056"/>
                  </a:ext>
                </a:extLst>
              </a:tr>
            </a:tbl>
          </a:graphicData>
        </a:graphic>
      </p:graphicFrame>
      <p:pic>
        <p:nvPicPr>
          <p:cNvPr id="3" name="Picture 2" descr="A graph of a number of blue rectangular bars&#10;&#10;AI-generated content may be incorrect.">
            <a:extLst>
              <a:ext uri="{FF2B5EF4-FFF2-40B4-BE49-F238E27FC236}">
                <a16:creationId xmlns:a16="http://schemas.microsoft.com/office/drawing/2014/main" id="{58BB73EB-7F90-8F49-2CA3-45084BF9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570" y="1826713"/>
            <a:ext cx="6293352" cy="423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43D8-87AE-E4DD-EA82-3A423044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1"/>
            <a:ext cx="10657114" cy="1673904"/>
          </a:xfrm>
        </p:spPr>
        <p:txBody>
          <a:bodyPr/>
          <a:lstStyle/>
          <a:p>
            <a:pPr algn="ctr"/>
            <a:r>
              <a:rPr lang="en-US" sz="5400" dirty="0">
                <a:latin typeface="Aptos"/>
                <a:cs typeface="Times New Roman"/>
              </a:rPr>
              <a:t>Feature Engineering</a:t>
            </a:r>
            <a:endParaRPr lang="en-US" sz="5400" dirty="0">
              <a:latin typeface="Aptos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491F2-28E2-2EFA-8433-B8601AFA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168"/>
            <a:ext cx="10657114" cy="54943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black rectangular table with white text&#10;&#10;AI-generated content may be incorrect.">
            <a:extLst>
              <a:ext uri="{FF2B5EF4-FFF2-40B4-BE49-F238E27FC236}">
                <a16:creationId xmlns:a16="http://schemas.microsoft.com/office/drawing/2014/main" id="{52205AF7-5349-0DAC-694C-A52BA9B65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428" y="1278145"/>
            <a:ext cx="3729243" cy="2578470"/>
          </a:xfrm>
          <a:prstGeom prst="rect">
            <a:avLst/>
          </a:prstGeom>
        </p:spPr>
      </p:pic>
      <p:pic>
        <p:nvPicPr>
          <p:cNvPr id="6" name="Picture 5" descr="A black rectangular screen with white text&#10;&#10;AI-generated content may be incorrect.">
            <a:extLst>
              <a:ext uri="{FF2B5EF4-FFF2-40B4-BE49-F238E27FC236}">
                <a16:creationId xmlns:a16="http://schemas.microsoft.com/office/drawing/2014/main" id="{972AD4B3-F634-7ED0-81BD-EC1ACDCEC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919" y="1274621"/>
            <a:ext cx="3871823" cy="2582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7EFCC3-D87E-F277-27FA-8B4F4C0D7B37}"/>
              </a:ext>
            </a:extLst>
          </p:cNvPr>
          <p:cNvSpPr txBox="1"/>
          <p:nvPr/>
        </p:nvSpPr>
        <p:spPr>
          <a:xfrm>
            <a:off x="1212771" y="4374970"/>
            <a:ext cx="1015222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Numerical Aggregation:</a:t>
            </a:r>
            <a:r>
              <a:rPr lang="en-GB" dirty="0"/>
              <a:t> Performed sum and mean for 3 months, 6 months and 12 months on numerical columns.</a:t>
            </a:r>
            <a:endParaRPr lang="en-US" dirty="0"/>
          </a:p>
          <a:p>
            <a:endParaRPr lang="en-GB" dirty="0"/>
          </a:p>
          <a:p>
            <a:r>
              <a:rPr lang="en-GB" b="1" dirty="0"/>
              <a:t>Categorical Aggregation: </a:t>
            </a:r>
            <a:r>
              <a:rPr lang="en-GB" dirty="0"/>
              <a:t>Implemented 'Response rate in last 6 months', 'Ever responded in last 12 months', 'Response rate in 2018' feature on categorical columns.</a:t>
            </a:r>
          </a:p>
        </p:txBody>
      </p:sp>
    </p:spTree>
    <p:extLst>
      <p:ext uri="{BB962C8B-B14F-4D97-AF65-F5344CB8AC3E}">
        <p14:creationId xmlns:p14="http://schemas.microsoft.com/office/powerpoint/2010/main" val="74482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9660-C50C-AA35-8A84-22260AA6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latin typeface="Aptos Display"/>
                <a:cs typeface="Times New Roman"/>
              </a:rPr>
              <a:t>Data Processing / One-Hot Encoding.</a:t>
            </a:r>
            <a:r>
              <a:rPr lang="en-US" sz="5400" dirty="0"/>
              <a:t> </a:t>
            </a:r>
            <a:endParaRPr lang="en-US" dirty="0"/>
          </a:p>
          <a:p>
            <a:endParaRPr lang="en-US" sz="5400" dirty="0"/>
          </a:p>
        </p:txBody>
      </p:sp>
      <p:pic>
        <p:nvPicPr>
          <p:cNvPr id="4" name="Content Placeholder 3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AA6CE72B-13DD-9471-5B2B-F77171972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6899564" y="1839150"/>
            <a:ext cx="4719943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27ECB9-0C72-A06A-19C1-CF972D2AFF25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Total no of category values combined in all category variables is :45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Total no of Null variables is :10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Total no of columns to be added after OHE is : 55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Total Columns in original Data Frame : 191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Total Columns after OHE is : 235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7349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B5A8-7F75-3648-FDB4-5D8E6D54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Selection</a:t>
            </a:r>
          </a:p>
        </p:txBody>
      </p:sp>
      <p:pic>
        <p:nvPicPr>
          <p:cNvPr id="5" name="Content Placeholder 4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D6B53DC5-F394-CFDF-0DF5-F60D10B52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92" b="-3"/>
          <a:stretch/>
        </p:blipFill>
        <p:spPr>
          <a:xfrm>
            <a:off x="6091151" y="1918835"/>
            <a:ext cx="5803323" cy="3890357"/>
          </a:xfrm>
          <a:prstGeom prst="rect">
            <a:avLst/>
          </a:prstGeom>
        </p:spPr>
      </p:pic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5FE8BCAB-5248-4DED-EA3B-A4580C293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65" b="-3"/>
          <a:stretch/>
        </p:blipFill>
        <p:spPr>
          <a:xfrm>
            <a:off x="198744" y="1918835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0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2611-19FF-FDE1-408D-579116654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 err="1">
                <a:ea typeface="+mj-lt"/>
                <a:cs typeface="+mj-lt"/>
              </a:rPr>
              <a:t>XGBoost</a:t>
            </a:r>
            <a:r>
              <a:rPr lang="en-GB" sz="5400" dirty="0">
                <a:ea typeface="+mj-lt"/>
                <a:cs typeface="+mj-lt"/>
              </a:rPr>
              <a:t> Classifier model</a:t>
            </a:r>
            <a:endParaRPr lang="en-US" sz="54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C519404-0CE3-3533-8D55-657EEFB02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1400" dirty="0" err="1">
                <a:ea typeface="+mn-lt"/>
                <a:cs typeface="+mn-lt"/>
              </a:rPr>
              <a:t>XGBClassifier</a:t>
            </a:r>
            <a:r>
              <a:rPr lang="en-GB" sz="1400" dirty="0">
                <a:ea typeface="+mn-lt"/>
                <a:cs typeface="+mn-lt"/>
              </a:rPr>
              <a:t>(</a:t>
            </a:r>
          </a:p>
          <a:p>
            <a:pPr>
              <a:buNone/>
            </a:pPr>
            <a:r>
              <a:rPr lang="en-GB" sz="1400" dirty="0">
                <a:ea typeface="+mn-lt"/>
                <a:cs typeface="+mn-lt"/>
              </a:rPr>
              <a:t>    </a:t>
            </a:r>
            <a:r>
              <a:rPr lang="en-GB" sz="1400" dirty="0" err="1">
                <a:ea typeface="+mn-lt"/>
                <a:cs typeface="+mn-lt"/>
              </a:rPr>
              <a:t>n_estimators</a:t>
            </a:r>
            <a:r>
              <a:rPr lang="en-GB" sz="1400" dirty="0">
                <a:ea typeface="+mn-lt"/>
                <a:cs typeface="+mn-lt"/>
              </a:rPr>
              <a:t>=300,</a:t>
            </a:r>
            <a:endParaRPr lang="en-GB" dirty="0"/>
          </a:p>
          <a:p>
            <a:pPr>
              <a:buNone/>
            </a:pPr>
            <a:r>
              <a:rPr lang="en-GB" sz="1400" dirty="0">
                <a:ea typeface="+mn-lt"/>
                <a:cs typeface="+mn-lt"/>
              </a:rPr>
              <a:t>    </a:t>
            </a:r>
            <a:r>
              <a:rPr lang="en-GB" sz="1400" dirty="0" err="1">
                <a:ea typeface="+mn-lt"/>
                <a:cs typeface="+mn-lt"/>
              </a:rPr>
              <a:t>learning_rate</a:t>
            </a:r>
            <a:r>
              <a:rPr lang="en-GB" sz="1400" dirty="0">
                <a:ea typeface="+mn-lt"/>
                <a:cs typeface="+mn-lt"/>
              </a:rPr>
              <a:t>=0.5,</a:t>
            </a:r>
            <a:endParaRPr lang="en-GB" dirty="0"/>
          </a:p>
          <a:p>
            <a:pPr>
              <a:buNone/>
            </a:pPr>
            <a:r>
              <a:rPr lang="en-GB" sz="1400" dirty="0">
                <a:ea typeface="+mn-lt"/>
                <a:cs typeface="+mn-lt"/>
              </a:rPr>
              <a:t>    subsample=0.5,</a:t>
            </a:r>
            <a:endParaRPr lang="en-GB" dirty="0"/>
          </a:p>
          <a:p>
            <a:pPr>
              <a:buNone/>
            </a:pPr>
            <a:r>
              <a:rPr lang="en-GB" sz="1400" dirty="0">
                <a:ea typeface="+mn-lt"/>
                <a:cs typeface="+mn-lt"/>
              </a:rPr>
              <a:t>    </a:t>
            </a:r>
            <a:r>
              <a:rPr lang="en-GB" sz="1400" dirty="0" err="1">
                <a:ea typeface="+mn-lt"/>
                <a:cs typeface="+mn-lt"/>
              </a:rPr>
              <a:t>colsample_bytree</a:t>
            </a:r>
            <a:r>
              <a:rPr lang="en-GB" sz="1400" dirty="0">
                <a:ea typeface="+mn-lt"/>
                <a:cs typeface="+mn-lt"/>
              </a:rPr>
              <a:t>=0.5,</a:t>
            </a:r>
            <a:endParaRPr lang="en-GB" dirty="0"/>
          </a:p>
          <a:p>
            <a:pPr>
              <a:buNone/>
            </a:pPr>
            <a:r>
              <a:rPr lang="en-GB" sz="1400" dirty="0">
                <a:ea typeface="+mn-lt"/>
                <a:cs typeface="+mn-lt"/>
              </a:rPr>
              <a:t>    </a:t>
            </a:r>
            <a:r>
              <a:rPr lang="en-GB" sz="1400" dirty="0" err="1">
                <a:ea typeface="+mn-lt"/>
                <a:cs typeface="+mn-lt"/>
              </a:rPr>
              <a:t>scale_pos_weight</a:t>
            </a:r>
            <a:r>
              <a:rPr lang="en-GB" sz="1400" dirty="0">
                <a:ea typeface="+mn-lt"/>
                <a:cs typeface="+mn-lt"/>
              </a:rPr>
              <a:t>=5</a:t>
            </a:r>
            <a:endParaRPr lang="en-GB" dirty="0"/>
          </a:p>
          <a:p>
            <a:pPr>
              <a:buNone/>
            </a:pPr>
            <a:r>
              <a:rPr lang="en-GB" sz="1400" dirty="0">
                <a:ea typeface="+mn-lt"/>
                <a:cs typeface="+mn-lt"/>
              </a:rPr>
              <a:t>)</a:t>
            </a:r>
            <a:endParaRPr lang="en-GB" sz="1400" dirty="0"/>
          </a:p>
          <a:p>
            <a:pPr>
              <a:buNone/>
            </a:pPr>
            <a:r>
              <a:rPr lang="en-GB" sz="1400" dirty="0"/>
              <a:t> Key Notes:</a:t>
            </a:r>
            <a:endParaRPr lang="en-GB" sz="1400" dirty="0">
              <a:ea typeface="+mn-lt"/>
              <a:cs typeface="+mn-lt"/>
            </a:endParaRPr>
          </a:p>
          <a:p>
            <a:r>
              <a:rPr lang="en-GB" sz="1400" b="1" dirty="0" err="1">
                <a:ea typeface="+mn-lt"/>
                <a:cs typeface="+mn-lt"/>
              </a:rPr>
              <a:t>n_estimators</a:t>
            </a:r>
            <a:r>
              <a:rPr lang="en-GB" sz="1400" b="1" dirty="0">
                <a:ea typeface="+mn-lt"/>
                <a:cs typeface="+mn-lt"/>
              </a:rPr>
              <a:t> = 300</a:t>
            </a:r>
            <a:r>
              <a:rPr lang="en-GB" sz="1400" dirty="0">
                <a:ea typeface="+mn-lt"/>
                <a:cs typeface="+mn-lt"/>
              </a:rPr>
              <a:t>: Builds 300 boosted trees</a:t>
            </a:r>
          </a:p>
          <a:p>
            <a:r>
              <a:rPr lang="en-GB" sz="1400" b="1" dirty="0" err="1">
                <a:ea typeface="+mn-lt"/>
                <a:cs typeface="+mn-lt"/>
              </a:rPr>
              <a:t>learning_rate</a:t>
            </a:r>
            <a:r>
              <a:rPr lang="en-GB" sz="1400" b="1" dirty="0">
                <a:ea typeface="+mn-lt"/>
                <a:cs typeface="+mn-lt"/>
              </a:rPr>
              <a:t> = 0.5</a:t>
            </a:r>
            <a:r>
              <a:rPr lang="en-GB" sz="1400" dirty="0">
                <a:ea typeface="+mn-lt"/>
                <a:cs typeface="+mn-lt"/>
              </a:rPr>
              <a:t>: Higher learning rate for faster convergence</a:t>
            </a:r>
          </a:p>
          <a:p>
            <a:r>
              <a:rPr lang="en-GB" sz="1400" b="1" dirty="0">
                <a:ea typeface="+mn-lt"/>
                <a:cs typeface="+mn-lt"/>
              </a:rPr>
              <a:t>subsample=0.5 </a:t>
            </a:r>
            <a:r>
              <a:rPr lang="en-GB" sz="1400" dirty="0">
                <a:ea typeface="+mn-lt"/>
                <a:cs typeface="+mn-lt"/>
              </a:rPr>
              <a:t>controls the fraction of observations used for each tree</a:t>
            </a:r>
            <a:endParaRPr lang="en-GB" sz="1400" b="1" dirty="0">
              <a:ea typeface="+mn-lt"/>
              <a:cs typeface="+mn-lt"/>
            </a:endParaRPr>
          </a:p>
          <a:p>
            <a:r>
              <a:rPr lang="en-GB" sz="1400" b="1" dirty="0" err="1">
                <a:ea typeface="+mn-lt"/>
                <a:cs typeface="+mn-lt"/>
              </a:rPr>
              <a:t>colsample_bytree</a:t>
            </a:r>
            <a:r>
              <a:rPr lang="en-GB" sz="1400" b="1" dirty="0">
                <a:ea typeface="+mn-lt"/>
                <a:cs typeface="+mn-lt"/>
              </a:rPr>
              <a:t> = 0.5</a:t>
            </a:r>
            <a:r>
              <a:rPr lang="en-GB" sz="1400" dirty="0">
                <a:ea typeface="+mn-lt"/>
                <a:cs typeface="+mn-lt"/>
              </a:rPr>
              <a:t>: Uses 50% of the subsample ratio of columns when constructing each tree</a:t>
            </a:r>
          </a:p>
          <a:p>
            <a:r>
              <a:rPr lang="en-GB" sz="1400" b="1" dirty="0" err="1"/>
              <a:t>scale_pos_weight</a:t>
            </a:r>
            <a:r>
              <a:rPr lang="en-GB" sz="1400" b="1" dirty="0"/>
              <a:t>=5: </a:t>
            </a:r>
            <a:r>
              <a:rPr lang="en-GB" sz="1400" dirty="0">
                <a:ea typeface="+mn-lt"/>
                <a:cs typeface="+mn-lt"/>
              </a:rPr>
              <a:t>Indicates the ratio of number of negative class to the positive class.</a:t>
            </a:r>
            <a:endParaRPr lang="en-GB" sz="1400" b="1" dirty="0">
              <a:ea typeface="+mn-lt"/>
              <a:cs typeface="+mn-lt"/>
            </a:endParaRPr>
          </a:p>
          <a:p>
            <a:pPr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097360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B3E6-DFE5-510B-F15E-90E9BE30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XGBoost Classifier Configuration </a:t>
            </a:r>
          </a:p>
        </p:txBody>
      </p:sp>
      <p:pic>
        <p:nvPicPr>
          <p:cNvPr id="4" name="Content Placeholder 3" descr="A screenshot of a white box with black text&#10;&#10;AI-generated content may be incorrect.">
            <a:extLst>
              <a:ext uri="{FF2B5EF4-FFF2-40B4-BE49-F238E27FC236}">
                <a16:creationId xmlns:a16="http://schemas.microsoft.com/office/drawing/2014/main" id="{371E927B-FCD7-6137-A022-A634A5AEE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45" y="1709410"/>
            <a:ext cx="10261561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64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1B0E-E813-C7D1-16C4-78A9A679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XGBoost – Grid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7834-9495-076F-B2A2-693844386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3" y="2093087"/>
            <a:ext cx="6852164" cy="408724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Each parameter combination is tested and its performance recorded.</a:t>
            </a:r>
            <a:endParaRPr lang="en-US"/>
          </a:p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Helps identify the best model settings (e.g., tree count, learning rate, sampling ratios, class weights).</a:t>
            </a:r>
            <a:endParaRPr lang="en-US"/>
          </a:p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Ultimately, it improves accuracy and reduces overfitting, while handling imbalanced datasets (via </a:t>
            </a:r>
            <a:r>
              <a:rPr lang="en-US" sz="2200" err="1">
                <a:latin typeface="Consolas"/>
              </a:rPr>
              <a:t>scale_pos_weight</a:t>
            </a:r>
            <a:r>
              <a:rPr lang="en-US" sz="2200" dirty="0">
                <a:ea typeface="+mn-lt"/>
                <a:cs typeface="+mn-lt"/>
              </a:rPr>
              <a:t>).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The model is trained on the training dataset (</a:t>
            </a:r>
            <a:r>
              <a:rPr lang="en-US" sz="2200" dirty="0">
                <a:latin typeface="Consolas"/>
              </a:rPr>
              <a:t>X_train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err="1">
                <a:latin typeface="Consolas"/>
              </a:rPr>
              <a:t>y_train</a:t>
            </a:r>
            <a:r>
              <a:rPr lang="en-US" sz="2200" dirty="0">
                <a:ea typeface="+mn-lt"/>
                <a:cs typeface="+mn-lt"/>
              </a:rPr>
              <a:t>).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Initializes an </a:t>
            </a:r>
            <a:r>
              <a:rPr lang="en-US" sz="2200" dirty="0" err="1">
                <a:ea typeface="+mn-lt"/>
                <a:cs typeface="+mn-lt"/>
              </a:rPr>
              <a:t>XGBoost</a:t>
            </a:r>
            <a:r>
              <a:rPr lang="en-US" sz="2200" dirty="0">
                <a:ea typeface="+mn-lt"/>
                <a:cs typeface="+mn-lt"/>
              </a:rPr>
              <a:t> classifier with the current set of hyperparameters.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Uses GPU acceleration (</a:t>
            </a:r>
            <a:r>
              <a:rPr lang="en-US" sz="2200" dirty="0" err="1">
                <a:latin typeface="Consolas"/>
              </a:rPr>
              <a:t>tree_method</a:t>
            </a:r>
            <a:r>
              <a:rPr lang="en-US" sz="2200" dirty="0">
                <a:latin typeface="Consolas"/>
              </a:rPr>
              <a:t>='</a:t>
            </a:r>
            <a:r>
              <a:rPr lang="en-US" sz="2200" dirty="0" err="1">
                <a:latin typeface="Consolas"/>
              </a:rPr>
              <a:t>gpu_hist</a:t>
            </a:r>
            <a:r>
              <a:rPr lang="en-US" sz="2200" dirty="0">
                <a:latin typeface="Consolas"/>
              </a:rPr>
              <a:t>'</a:t>
            </a:r>
            <a:r>
              <a:rPr lang="en-US" sz="2200" dirty="0">
                <a:ea typeface="+mn-lt"/>
                <a:cs typeface="+mn-lt"/>
              </a:rPr>
              <a:t>) for faster training.</a:t>
            </a:r>
            <a:endParaRPr lang="en-US" dirty="0"/>
          </a:p>
          <a:p>
            <a:pPr>
              <a:buFont typeface="Arial"/>
              <a:buChar char="•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4E7C226-24AF-7260-B498-5D71E511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414" b="-2"/>
          <a:stretch/>
        </p:blipFill>
        <p:spPr>
          <a:xfrm>
            <a:off x="7423796" y="476032"/>
            <a:ext cx="4379474" cy="570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2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586A-17EC-DE68-AFB0-3042E282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XGBoost – Grid Search</a:t>
            </a:r>
          </a:p>
        </p:txBody>
      </p:sp>
      <p:pic>
        <p:nvPicPr>
          <p:cNvPr id="7" name="Content Placeholder 6" descr="A graph with blue dots&#10;&#10;AI-generated content may be incorrect.">
            <a:extLst>
              <a:ext uri="{FF2B5EF4-FFF2-40B4-BE49-F238E27FC236}">
                <a16:creationId xmlns:a16="http://schemas.microsoft.com/office/drawing/2014/main" id="{A71C869A-7583-FB02-0BE7-D3107FDF4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293" y="2027401"/>
            <a:ext cx="5281414" cy="4114800"/>
          </a:xfrm>
        </p:spPr>
      </p:pic>
      <p:pic>
        <p:nvPicPr>
          <p:cNvPr id="8" name="Picture 7" descr="A graph with blue dots&#10;&#10;AI-generated content may be incorrect.">
            <a:extLst>
              <a:ext uri="{FF2B5EF4-FFF2-40B4-BE49-F238E27FC236}">
                <a16:creationId xmlns:a16="http://schemas.microsoft.com/office/drawing/2014/main" id="{D5CB9B87-6DCE-005D-3AFE-EA159FB13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891" y="2024063"/>
            <a:ext cx="56483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9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586A-17EC-DE68-AFB0-3042E282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XGBoost – Final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B940-5017-BD45-02B9-631E2CE36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latin typeface="Times New Roman"/>
                <a:cs typeface="Times New Roman"/>
              </a:rPr>
              <a:t>We have selected best model parameters using overfit metric, Bias and Variance</a:t>
            </a:r>
          </a:p>
          <a:p>
            <a:endParaRPr lang="en-US" sz="2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CA819-4217-BA88-0889-20692C577970}"/>
              </a:ext>
            </a:extLst>
          </p:cNvPr>
          <p:cNvSpPr txBox="1"/>
          <p:nvPr/>
        </p:nvSpPr>
        <p:spPr>
          <a:xfrm>
            <a:off x="1144044" y="2678482"/>
            <a:ext cx="359914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Segoe UI"/>
              </a:rPr>
              <a:t>#Trees:                      300.000000 ​</a:t>
            </a:r>
          </a:p>
          <a:p>
            <a:r>
              <a:rPr lang="en-US">
                <a:cs typeface="Segoe UI"/>
              </a:rPr>
              <a:t>LR:                                0.100000 ​</a:t>
            </a:r>
          </a:p>
          <a:p>
            <a:r>
              <a:rPr lang="en-US">
                <a:cs typeface="Segoe UI"/>
              </a:rPr>
              <a:t>Subsample:             0.800000 ​</a:t>
            </a:r>
          </a:p>
          <a:p>
            <a:r>
              <a:rPr lang="en-US">
                <a:cs typeface="Segoe UI"/>
              </a:rPr>
              <a:t>% Features:              0.500000 ​</a:t>
            </a:r>
          </a:p>
          <a:p>
            <a:r>
              <a:rPr lang="en-US">
                <a:cs typeface="Segoe UI"/>
              </a:rPr>
              <a:t>Weight of Default:  1 ​</a:t>
            </a:r>
          </a:p>
          <a:p>
            <a:r>
              <a:rPr lang="en-US">
                <a:cs typeface="Segoe UI"/>
              </a:rPr>
              <a:t>AUC Train:                  0.950735​</a:t>
            </a:r>
          </a:p>
          <a:p>
            <a:r>
              <a:rPr lang="en-US">
                <a:cs typeface="Segoe UI"/>
              </a:rPr>
              <a:t>AUC Test 1:                0.942310 ​</a:t>
            </a:r>
          </a:p>
          <a:p>
            <a:r>
              <a:rPr lang="en-US">
                <a:cs typeface="Segoe UI"/>
              </a:rPr>
              <a:t>AUC Test 2:                0.940764 ​</a:t>
            </a:r>
          </a:p>
          <a:p>
            <a:r>
              <a:rPr lang="en-US">
                <a:cs typeface="Segoe UI"/>
              </a:rPr>
              <a:t>Bias:                              0.009198 ​</a:t>
            </a:r>
          </a:p>
          <a:p>
            <a:r>
              <a:rPr lang="en-US">
                <a:cs typeface="Segoe UI"/>
              </a:rPr>
              <a:t>Variance:                     0.001546 ​</a:t>
            </a:r>
          </a:p>
        </p:txBody>
      </p:sp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CA00678-1C48-93DD-CBDB-E446A934E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681" y="2128071"/>
            <a:ext cx="6586728" cy="39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1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715B-92C5-A848-3FEC-CF75B4955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XGBoost – SHAP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19289-0FDB-0952-8FAF-3419F2CC8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1700"/>
              <a:t>This plot explains how every feature influences the probability prediction.</a:t>
            </a:r>
          </a:p>
          <a:p>
            <a:r>
              <a:rPr lang="en-US" sz="1700" b="1" dirty="0">
                <a:ea typeface="+mn-lt"/>
                <a:cs typeface="+mn-lt"/>
              </a:rPr>
              <a:t>P_2</a:t>
            </a:r>
            <a:r>
              <a:rPr lang="en-US" sz="1700" dirty="0">
                <a:ea typeface="+mn-lt"/>
                <a:cs typeface="+mn-lt"/>
              </a:rPr>
              <a:t> is the most influential feature:</a:t>
            </a:r>
            <a:endParaRPr lang="en-US" sz="1700" dirty="0"/>
          </a:p>
          <a:p>
            <a:r>
              <a:rPr lang="en-US" sz="1700">
                <a:ea typeface="+mn-lt"/>
                <a:cs typeface="+mn-lt"/>
              </a:rPr>
              <a:t>High </a:t>
            </a:r>
            <a:r>
              <a:rPr lang="en-US" sz="1700">
                <a:latin typeface="Consolas"/>
              </a:rPr>
              <a:t>P_2</a:t>
            </a:r>
            <a:r>
              <a:rPr lang="en-US" sz="1700">
                <a:ea typeface="+mn-lt"/>
                <a:cs typeface="+mn-lt"/>
              </a:rPr>
              <a:t> values (red) decrease default probability.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Indicates a </a:t>
            </a:r>
            <a:r>
              <a:rPr lang="en-US" sz="1700" b="1">
                <a:ea typeface="+mn-lt"/>
                <a:cs typeface="+mn-lt"/>
              </a:rPr>
              <a:t>negative correlation</a:t>
            </a:r>
            <a:r>
              <a:rPr lang="en-US" sz="1700">
                <a:ea typeface="+mn-lt"/>
                <a:cs typeface="+mn-lt"/>
              </a:rPr>
              <a:t> with default risk.</a:t>
            </a:r>
            <a:endParaRPr lang="en-US"/>
          </a:p>
          <a:p>
            <a:r>
              <a:rPr lang="en-US" sz="1700" b="1">
                <a:ea typeface="+mn-lt"/>
                <a:cs typeface="+mn-lt"/>
              </a:rPr>
              <a:t>D_42, B_1, D_45, S_3, D_48</a:t>
            </a:r>
            <a:r>
              <a:rPr lang="en-US" sz="1700">
                <a:ea typeface="+mn-lt"/>
                <a:cs typeface="+mn-lt"/>
              </a:rPr>
              <a:t> are also highly impactful: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Low values (blue) generally increase the default probability.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Positively correlated with default risk.</a:t>
            </a:r>
            <a:endParaRPr lang="en-US"/>
          </a:p>
          <a:p>
            <a:r>
              <a:rPr lang="en-US" sz="1700" b="1">
                <a:ea typeface="+mn-lt"/>
                <a:cs typeface="+mn-lt"/>
              </a:rPr>
              <a:t>D_64_O_Ever_Response_12</a:t>
            </a:r>
            <a:r>
              <a:rPr lang="en-US" sz="1700">
                <a:ea typeface="+mn-lt"/>
                <a:cs typeface="+mn-lt"/>
              </a:rPr>
              <a:t> and </a:t>
            </a:r>
            <a:r>
              <a:rPr lang="en-US" sz="1700" b="1">
                <a:ea typeface="+mn-lt"/>
                <a:cs typeface="+mn-lt"/>
              </a:rPr>
              <a:t>B_Ave_1m</a:t>
            </a:r>
            <a:r>
              <a:rPr lang="en-US" sz="1700">
                <a:ea typeface="+mn-lt"/>
                <a:cs typeface="+mn-lt"/>
              </a:rPr>
              <a:t> have minor but meaningful influence.</a:t>
            </a:r>
            <a:endParaRPr lang="en-US"/>
          </a:p>
          <a:p>
            <a:r>
              <a:rPr lang="en-US" sz="1700" b="1">
                <a:ea typeface="+mn-lt"/>
                <a:cs typeface="+mn-lt"/>
              </a:rPr>
              <a:t>SHAP values</a:t>
            </a:r>
            <a:r>
              <a:rPr lang="en-US" sz="1700">
                <a:ea typeface="+mn-lt"/>
                <a:cs typeface="+mn-lt"/>
              </a:rPr>
              <a:t> show </a:t>
            </a:r>
            <a:r>
              <a:rPr lang="en-US" sz="1700" b="1">
                <a:ea typeface="+mn-lt"/>
                <a:cs typeface="+mn-lt"/>
              </a:rPr>
              <a:t>feature impact</a:t>
            </a:r>
            <a:r>
              <a:rPr lang="en-US" sz="1700">
                <a:ea typeface="+mn-lt"/>
                <a:cs typeface="+mn-lt"/>
              </a:rPr>
              <a:t> on individual predictions: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Right side = increase in default risk.</a:t>
            </a:r>
            <a:endParaRPr lang="en-US"/>
          </a:p>
          <a:p>
            <a:r>
              <a:rPr lang="en-US" sz="1700">
                <a:ea typeface="+mn-lt"/>
                <a:cs typeface="+mn-lt"/>
              </a:rPr>
              <a:t>Left side = decrease in default risk.</a:t>
            </a:r>
            <a:endParaRPr lang="en-US"/>
          </a:p>
          <a:p>
            <a:r>
              <a:rPr lang="en-US" sz="1700" dirty="0">
                <a:ea typeface="+mn-lt"/>
                <a:cs typeface="+mn-lt"/>
              </a:rPr>
              <a:t>The </a:t>
            </a:r>
            <a:r>
              <a:rPr lang="en-US" sz="1700" b="1" dirty="0">
                <a:ea typeface="+mn-lt"/>
                <a:cs typeface="+mn-lt"/>
              </a:rPr>
              <a:t>wider the spread</a:t>
            </a:r>
            <a:r>
              <a:rPr lang="en-US" sz="1700" dirty="0">
                <a:ea typeface="+mn-lt"/>
                <a:cs typeface="+mn-lt"/>
              </a:rPr>
              <a:t>, the </a:t>
            </a:r>
            <a:r>
              <a:rPr lang="en-US" sz="1700" b="1" dirty="0">
                <a:ea typeface="+mn-lt"/>
                <a:cs typeface="+mn-lt"/>
              </a:rPr>
              <a:t>greater the variability</a:t>
            </a:r>
            <a:r>
              <a:rPr lang="en-US" sz="1700" dirty="0">
                <a:ea typeface="+mn-lt"/>
                <a:cs typeface="+mn-lt"/>
              </a:rPr>
              <a:t> in impact across the dataset.</a:t>
            </a:r>
            <a:endParaRPr lang="en-US" dirty="0"/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4CCFC-0E3D-6C6C-96BC-9BB0B869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119" y="0"/>
            <a:ext cx="5727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12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F942-F417-11D4-61F1-CEC24449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XGBoost - SHAP Analysis</a:t>
            </a:r>
          </a:p>
        </p:txBody>
      </p:sp>
      <p:pic>
        <p:nvPicPr>
          <p:cNvPr id="7" name="Content Placeholder 6" descr="A graph with numbers and squares&#10;&#10;AI-generated content may be incorrect.">
            <a:extLst>
              <a:ext uri="{FF2B5EF4-FFF2-40B4-BE49-F238E27FC236}">
                <a16:creationId xmlns:a16="http://schemas.microsoft.com/office/drawing/2014/main" id="{3D0F666E-615E-E401-5080-0DF4BB6E85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9763" y="835787"/>
            <a:ext cx="6256749" cy="539155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1685A-9606-EA58-7510-9D55E6BA8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366" y="2194102"/>
            <a:ext cx="3427001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dirty="0"/>
              <a:t>This is a SHAP waterfall plot, which explains how different features contribute to the model’s prediction for a specific instance.</a:t>
            </a:r>
          </a:p>
          <a:p>
            <a:r>
              <a:rPr lang="en-US" sz="1900" dirty="0">
                <a:ea typeface="+mn-lt"/>
                <a:cs typeface="+mn-lt"/>
              </a:rPr>
              <a:t>Features like </a:t>
            </a:r>
            <a:r>
              <a:rPr lang="en-US" sz="1900" b="1" dirty="0">
                <a:ea typeface="+mn-lt"/>
                <a:cs typeface="+mn-lt"/>
              </a:rPr>
              <a:t>D_42</a:t>
            </a:r>
            <a:r>
              <a:rPr lang="en-US" sz="1900" dirty="0">
                <a:ea typeface="+mn-lt"/>
                <a:cs typeface="+mn-lt"/>
              </a:rPr>
              <a:t> and </a:t>
            </a:r>
            <a:r>
              <a:rPr lang="en-US" sz="1900" b="1" dirty="0">
                <a:ea typeface="+mn-lt"/>
                <a:cs typeface="+mn-lt"/>
              </a:rPr>
              <a:t>D_132</a:t>
            </a:r>
            <a:r>
              <a:rPr lang="en-US" sz="1900" dirty="0">
                <a:ea typeface="+mn-lt"/>
                <a:cs typeface="+mn-lt"/>
              </a:rPr>
              <a:t> increased the prediction score, while others like </a:t>
            </a:r>
            <a:r>
              <a:rPr lang="en-US" sz="1900" b="1" dirty="0">
                <a:ea typeface="+mn-lt"/>
                <a:cs typeface="+mn-lt"/>
              </a:rPr>
              <a:t>B_1</a:t>
            </a:r>
            <a:r>
              <a:rPr lang="en-US" sz="1900" dirty="0">
                <a:ea typeface="+mn-lt"/>
                <a:cs typeface="+mn-lt"/>
              </a:rPr>
              <a:t>, </a:t>
            </a:r>
            <a:r>
              <a:rPr lang="en-US" sz="1900" b="1" dirty="0">
                <a:ea typeface="+mn-lt"/>
                <a:cs typeface="+mn-lt"/>
              </a:rPr>
              <a:t>D_48</a:t>
            </a:r>
            <a:r>
              <a:rPr lang="en-US" sz="1900" dirty="0">
                <a:ea typeface="+mn-lt"/>
                <a:cs typeface="+mn-lt"/>
              </a:rPr>
              <a:t>, and </a:t>
            </a:r>
            <a:r>
              <a:rPr lang="en-US" sz="1900" b="1" dirty="0">
                <a:ea typeface="+mn-lt"/>
                <a:cs typeface="+mn-lt"/>
              </a:rPr>
              <a:t>B_Sum_1m</a:t>
            </a:r>
            <a:r>
              <a:rPr lang="en-US" sz="1900" dirty="0">
                <a:ea typeface="+mn-lt"/>
                <a:cs typeface="+mn-lt"/>
              </a:rPr>
              <a:t> significantly reduced the default probability, leading to a low final prediction score of </a:t>
            </a:r>
            <a:r>
              <a:rPr lang="en-US" sz="1900" b="1" dirty="0">
                <a:ea typeface="+mn-lt"/>
                <a:cs typeface="+mn-lt"/>
              </a:rPr>
              <a:t>-3.118</a:t>
            </a:r>
            <a:r>
              <a:rPr lang="en-US" sz="1900" dirty="0">
                <a:ea typeface="+mn-lt"/>
                <a:cs typeface="+mn-lt"/>
              </a:rPr>
              <a:t>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02497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2171-4110-15B7-B44B-27C63C2D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2455" y="198727"/>
            <a:ext cx="9167090" cy="1521691"/>
          </a:xfrm>
        </p:spPr>
        <p:txBody>
          <a:bodyPr>
            <a:normAutofit fontScale="90000"/>
          </a:bodyPr>
          <a:lstStyle/>
          <a:p>
            <a:r>
              <a:rPr lang="en-GB"/>
              <a:t>Neural Network – Data Processing</a:t>
            </a:r>
          </a:p>
        </p:txBody>
      </p:sp>
      <p:pic>
        <p:nvPicPr>
          <p:cNvPr id="3" name="Picture 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B2330A9E-27F4-6550-719B-1A169B895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82" y="2153499"/>
            <a:ext cx="5552032" cy="1538482"/>
          </a:xfrm>
          <a:prstGeom prst="rect">
            <a:avLst/>
          </a:prstGeom>
        </p:spPr>
      </p:pic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C231ED8-74AB-B030-9160-48C04E708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844" y="2160087"/>
            <a:ext cx="5387628" cy="1525305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6A03E69-6BB8-5069-5C75-1034A9DE1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69" y="4241951"/>
            <a:ext cx="5553858" cy="15473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8B6A7-1558-6D42-7528-54F082649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049" y="4231010"/>
            <a:ext cx="5512236" cy="154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17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D5FD-A415-BA12-5D1D-43F8B85C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 – Grid Search</a:t>
            </a:r>
          </a:p>
        </p:txBody>
      </p:sp>
      <p:pic>
        <p:nvPicPr>
          <p:cNvPr id="12" name="Content Placeholder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AC450C1-F93B-7820-EDC8-37BAA5456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685" y="1434775"/>
            <a:ext cx="8924794" cy="4924272"/>
          </a:xfrm>
        </p:spPr>
      </p:pic>
    </p:spTree>
    <p:extLst>
      <p:ext uri="{BB962C8B-B14F-4D97-AF65-F5344CB8AC3E}">
        <p14:creationId xmlns:p14="http://schemas.microsoft.com/office/powerpoint/2010/main" val="1357673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43A6-5BB6-6D57-C6AE-EE5C85192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Neural Network – Grid Search</a:t>
            </a:r>
          </a:p>
        </p:txBody>
      </p:sp>
      <p:pic>
        <p:nvPicPr>
          <p:cNvPr id="4" name="Content Placeholder 3" descr="A graph with blue dots&#10;&#10;AI-generated content may be incorrect.">
            <a:extLst>
              <a:ext uri="{FF2B5EF4-FFF2-40B4-BE49-F238E27FC236}">
                <a16:creationId xmlns:a16="http://schemas.microsoft.com/office/drawing/2014/main" id="{5889C40B-F15A-2D2C-B260-3027D2F20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106" y="2642616"/>
            <a:ext cx="4564283" cy="3605784"/>
          </a:xfrm>
          <a:prstGeom prst="rect">
            <a:avLst/>
          </a:prstGeom>
        </p:spPr>
      </p:pic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9DD0A226-96EC-6B3C-F574-43CD0A405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982" y="2642616"/>
            <a:ext cx="4713443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19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9DB7-A319-DDCC-6F9E-0DC1D646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Neural Network – Final Model</a:t>
            </a:r>
          </a:p>
        </p:txBody>
      </p:sp>
      <p:pic>
        <p:nvPicPr>
          <p:cNvPr id="4" name="Content Placeholder 3" descr="A black and white text&#10;&#10;AI-generated content may be incorrect.">
            <a:extLst>
              <a:ext uri="{FF2B5EF4-FFF2-40B4-BE49-F238E27FC236}">
                <a16:creationId xmlns:a16="http://schemas.microsoft.com/office/drawing/2014/main" id="{20C767FF-D196-3DA6-2D1F-3906C9CD5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87633"/>
            <a:ext cx="10515600" cy="599989"/>
          </a:xfrm>
        </p:spPr>
      </p:pic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C8D66BE5-6597-EA21-1CDC-C9BA8B05A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14" y="634451"/>
            <a:ext cx="2190750" cy="781050"/>
          </a:xfrm>
          <a:prstGeom prst="rect">
            <a:avLst/>
          </a:prstGeom>
        </p:spPr>
      </p:pic>
      <p:pic>
        <p:nvPicPr>
          <p:cNvPr id="6" name="Picture 5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31EE9C57-ECCA-7A73-C2F1-4A8861A782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0" t="131" r="-73" b="131"/>
          <a:stretch/>
        </p:blipFill>
        <p:spPr>
          <a:xfrm>
            <a:off x="2264337" y="2467847"/>
            <a:ext cx="7673858" cy="41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85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A445-EAC4-C6C2-1C9C-28B654080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/>
              <a:t>Final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9BAA3-FE2A-0BD4-2565-7AFAB738E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ea typeface="+mn-lt"/>
                <a:cs typeface="+mn-lt"/>
              </a:rPr>
              <a:t>The bar chart presents a visual comparison of </a:t>
            </a:r>
            <a:r>
              <a:rPr lang="en-US" sz="1300" b="1">
                <a:ea typeface="+mn-lt"/>
                <a:cs typeface="+mn-lt"/>
              </a:rPr>
              <a:t>AUC scores</a:t>
            </a:r>
            <a:r>
              <a:rPr lang="en-US" sz="1300">
                <a:ea typeface="+mn-lt"/>
                <a:cs typeface="+mn-lt"/>
              </a:rPr>
              <a:t> for the Neural Network and XGBoost models across three datasets: Train, Test1, and Test2. In every case, the </a:t>
            </a:r>
            <a:r>
              <a:rPr lang="en-US" sz="1300" b="1">
                <a:ea typeface="+mn-lt"/>
                <a:cs typeface="+mn-lt"/>
              </a:rPr>
              <a:t>XGBoost model (red bars)</a:t>
            </a:r>
            <a:r>
              <a:rPr lang="en-US" sz="1300">
                <a:ea typeface="+mn-lt"/>
                <a:cs typeface="+mn-lt"/>
              </a:rPr>
              <a:t> consistently outperforms the </a:t>
            </a:r>
            <a:r>
              <a:rPr lang="en-US" sz="1300" b="1">
                <a:ea typeface="+mn-lt"/>
                <a:cs typeface="+mn-lt"/>
              </a:rPr>
              <a:t>Neural Network model (blue bars)</a:t>
            </a:r>
            <a:r>
              <a:rPr lang="en-US" sz="1300">
                <a:ea typeface="+mn-lt"/>
                <a:cs typeface="+mn-lt"/>
              </a:rPr>
              <a:t>, indicating stronger performance in both training and generalization. XGBoost achieved the highest AUC of </a:t>
            </a:r>
            <a:r>
              <a:rPr lang="en-US" sz="1300" b="1">
                <a:ea typeface="+mn-lt"/>
                <a:cs typeface="+mn-lt"/>
              </a:rPr>
              <a:t>0.9527 on the training set</a:t>
            </a:r>
            <a:r>
              <a:rPr lang="en-US" sz="1300">
                <a:ea typeface="+mn-lt"/>
                <a:cs typeface="+mn-lt"/>
              </a:rPr>
              <a:t>, while also maintaining strong test scores above </a:t>
            </a:r>
            <a:r>
              <a:rPr lang="en-US" sz="1300" b="1">
                <a:ea typeface="+mn-lt"/>
                <a:cs typeface="+mn-lt"/>
              </a:rPr>
              <a:t>0.94</a:t>
            </a:r>
            <a:r>
              <a:rPr lang="en-US" sz="1300">
                <a:ea typeface="+mn-lt"/>
                <a:cs typeface="+mn-lt"/>
              </a:rPr>
              <a:t>, making it the preferred choice for this credit risk modeling task.</a:t>
            </a:r>
            <a:endParaRPr lang="en-US" sz="1300"/>
          </a:p>
        </p:txBody>
      </p:sp>
      <p:pic>
        <p:nvPicPr>
          <p:cNvPr id="3" name="Picture 2" descr="A graph of a graph with red and blue bars&#10;&#10;AI-generated content may be incorrect.">
            <a:extLst>
              <a:ext uri="{FF2B5EF4-FFF2-40B4-BE49-F238E27FC236}">
                <a16:creationId xmlns:a16="http://schemas.microsoft.com/office/drawing/2014/main" id="{CCA7C879-7801-5494-87D6-E87081BE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510714"/>
            <a:ext cx="5167185" cy="3294079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C1D8E2D0-8A36-7AC5-016D-2712EC5B0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565" y="3596910"/>
            <a:ext cx="5167185" cy="131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06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89BD-2B5B-D6D4-FB55-882F95E4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STRATEGY</a:t>
            </a:r>
            <a:endParaRPr lang="en-US" dirty="0"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3807788-ACBA-D3C2-2D62-2775F0168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914" y="2223045"/>
            <a:ext cx="4862661" cy="3938756"/>
          </a:xfrm>
          <a:prstGeom prst="rect">
            <a:avLst/>
          </a:prstGeom>
        </p:spPr>
      </p:pic>
      <p:pic>
        <p:nvPicPr>
          <p:cNvPr id="6" name="Picture 5" descr="A red and blue line graph&#10;&#10;AI-generated content may be incorrect.">
            <a:extLst>
              <a:ext uri="{FF2B5EF4-FFF2-40B4-BE49-F238E27FC236}">
                <a16:creationId xmlns:a16="http://schemas.microsoft.com/office/drawing/2014/main" id="{5369347D-ED5D-DF76-0DE7-4280F500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75" y="2365285"/>
            <a:ext cx="5286921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9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C648AACE-25E9-CD6B-9205-6D47BD773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137" y="4925475"/>
            <a:ext cx="10626245" cy="931873"/>
          </a:xfrm>
          <a:prstGeom prst="rect">
            <a:avLst/>
          </a:prstGeom>
        </p:spPr>
      </p:pic>
      <p:pic>
        <p:nvPicPr>
          <p:cNvPr id="14" name="Content Placeholder 13" descr="A screenshot of a graph&#10;&#10;AI-generated content may be incorrect.">
            <a:extLst>
              <a:ext uri="{FF2B5EF4-FFF2-40B4-BE49-F238E27FC236}">
                <a16:creationId xmlns:a16="http://schemas.microsoft.com/office/drawing/2014/main" id="{90CCC0F5-A506-D0C3-3C43-76CDEFAA4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7700" y="1033528"/>
            <a:ext cx="10636682" cy="1342655"/>
          </a:xfrm>
        </p:spPr>
      </p:pic>
      <p:pic>
        <p:nvPicPr>
          <p:cNvPr id="16" name="Picture 15" descr="A table of numbers with numbers on it&#10;&#10;AI-generated content may be incorrect.">
            <a:extLst>
              <a:ext uri="{FF2B5EF4-FFF2-40B4-BE49-F238E27FC236}">
                <a16:creationId xmlns:a16="http://schemas.microsoft.com/office/drawing/2014/main" id="{A0A3DA09-1CA4-01A4-2E95-9FB0A1BCC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98" y="2383229"/>
            <a:ext cx="10626247" cy="254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0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102</TotalTime>
  <Words>874</Words>
  <Application>Microsoft Office PowerPoint</Application>
  <PresentationFormat>Widescreen</PresentationFormat>
  <Paragraphs>116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Aptos Display</vt:lpstr>
      <vt:lpstr>Arial</vt:lpstr>
      <vt:lpstr>Bahnschrift Light Condensed</vt:lpstr>
      <vt:lpstr>Calibri</vt:lpstr>
      <vt:lpstr>Calibri Light</vt:lpstr>
      <vt:lpstr>Consolas</vt:lpstr>
      <vt:lpstr>Segoe UI</vt:lpstr>
      <vt:lpstr>Spline Sans Bold</vt:lpstr>
      <vt:lpstr>Times New Roman</vt:lpstr>
      <vt:lpstr>Office Theme</vt:lpstr>
      <vt:lpstr>PowerPoint Presentation</vt:lpstr>
      <vt:lpstr>EXECUTIVE SUMMARY</vt:lpstr>
      <vt:lpstr>DATA </vt:lpstr>
      <vt:lpstr> Features</vt:lpstr>
      <vt:lpstr>Feature Engineering </vt:lpstr>
      <vt:lpstr>Data Processing / One-Hot Encoding.  </vt:lpstr>
      <vt:lpstr>Feature Selection</vt:lpstr>
      <vt:lpstr>XGBoost Classifier model</vt:lpstr>
      <vt:lpstr>XGBoost Classifier Configuration </vt:lpstr>
      <vt:lpstr>XGBoost – Grid Search</vt:lpstr>
      <vt:lpstr>XGBoost – Grid Search</vt:lpstr>
      <vt:lpstr>XGBoost – Final Model</vt:lpstr>
      <vt:lpstr>XGBoost – SHAP Analysis</vt:lpstr>
      <vt:lpstr>XGBoost - SHAP Analysis</vt:lpstr>
      <vt:lpstr>Neural Network – Data Processing</vt:lpstr>
      <vt:lpstr>Neural Network – Grid Search</vt:lpstr>
      <vt:lpstr>Neural Network – Grid Search</vt:lpstr>
      <vt:lpstr>Neural Network – Final Model</vt:lpstr>
      <vt:lpstr>Final Model</vt:lpstr>
      <vt:lpstr>STRATEGY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Hammad</dc:creator>
  <cp:lastModifiedBy>deepbhanushali737@outlook.com</cp:lastModifiedBy>
  <cp:revision>130</cp:revision>
  <dcterms:created xsi:type="dcterms:W3CDTF">2013-07-15T20:26:40Z</dcterms:created>
  <dcterms:modified xsi:type="dcterms:W3CDTF">2025-04-08T21:18:13Z</dcterms:modified>
</cp:coreProperties>
</file>